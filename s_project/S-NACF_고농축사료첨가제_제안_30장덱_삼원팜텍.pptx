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60120"/>
            <a:ext cx="5486400" cy="3931920"/>
          </a:xfrm>
          <a:prstGeom prst="rect">
            <a:avLst/>
          </a:prstGeom>
        </p:spPr>
      </p:pic>
      <p:pic>
        <p:nvPicPr>
          <p:cNvPr id="5" name="Picture 4" descr="bio_livestock_mascot_17898817854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749039"/>
            <a:ext cx="192024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91440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008B47"/>
                </a:solidFill>
                <a:latin typeface="Malgun Gothic"/>
              </a:rPr>
              <a:t>주식회사 삼원팜텍  |  SAMWON PHARMTECH</a:t>
            </a:r>
          </a:p>
          <a:p>
            <a:pPr>
              <a:spcAft>
                <a:spcPts val="1600"/>
              </a:spcAft>
            </a:pPr>
            <a:r>
              <a:rPr sz="2800" b="1">
                <a:solidFill>
                  <a:srgbClr val="0F172A"/>
                </a:solidFill>
                <a:latin typeface="Malgun Gothic"/>
              </a:rPr>
              <a:t>서울우유 사료 품질 혁신 및
원가 최적화를 위한
맞춤형 고농축 사료첨가제
공급 제안서</a:t>
            </a:r>
          </a:p>
          <a:p>
            <a:r>
              <a:rPr sz="1300" b="1">
                <a:solidFill>
                  <a:srgbClr val="475569"/>
                </a:solidFill>
                <a:latin typeface="Malgun Gothic"/>
              </a:rPr>
              <a:t>한일사료 임가공 배합 라인(월 18,000 M/T) 전용
표준 첨가량 500g/ton (0.05%) 낙농 전문 처방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5029200" cy="1097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제조 및 판매원: 주식회사 삼원팜텍 (대표이사 김한호)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충북 옥천 테크노밸리 첨단 R&amp;D 제조 본사 및 공장  |  국가 조달청 관납 전국 총판  |  2026.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EXECUTIVE SUMMARY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핵심 제안 요약: 낙농 사료 원가는 낮추고 산유량과 유질은 극대화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한일사료 18,000톤 라인 맞춤형 삼원팜텍 고농축 프리믹스 핵심 4대 지표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01. 표준 투입량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500g</a:t>
            </a:r>
            <a:r>
              <a:rPr sz="1200">
                <a:solidFill>
                  <a:srgbClr val="475569"/>
                </a:solidFill>
                <a:latin typeface="Malgun Gothic"/>
              </a:rPr>
              <a:t> / ton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투입량 혁신 :</a:t>
            </a:r>
            <a:r>
              <a:rPr sz="1000">
                <a:solidFill>
                  <a:srgbClr val="334155"/>
                </a:solidFill>
                <a:latin typeface="Malgun Gothic"/>
              </a:rPr>
              <a:t> 시중(1~2kg) 대비 50~75% 절감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공간 확보 :</a:t>
            </a:r>
            <a:r>
              <a:rPr sz="1000">
                <a:solidFill>
                  <a:srgbClr val="334155"/>
                </a:solidFill>
                <a:latin typeface="Malgun Gothic"/>
              </a:rPr>
              <a:t> 배합 공간 1kg 이상 확보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영양 보존 :</a:t>
            </a:r>
            <a:r>
              <a:rPr sz="1000">
                <a:solidFill>
                  <a:srgbClr val="334155"/>
                </a:solidFill>
                <a:latin typeface="Malgun Gothic"/>
              </a:rPr>
              <a:t> 옥수수·대두박 영양 100% 보존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02. 사료 톤당 비용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3,000원</a:t>
            </a:r>
            <a:r>
              <a:rPr sz="1200">
                <a:solidFill>
                  <a:srgbClr val="475569"/>
                </a:solidFill>
                <a:latin typeface="Malgun Gothic"/>
              </a:rPr>
              <a:t> / ton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적용 단가 :</a:t>
            </a:r>
            <a:r>
              <a:rPr sz="1000">
                <a:solidFill>
                  <a:srgbClr val="334155"/>
                </a:solidFill>
                <a:latin typeface="Malgun Gothic"/>
              </a:rPr>
              <a:t> 제품 기준가 6,000원/kg 적용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원가 절감 :</a:t>
            </a:r>
            <a:r>
              <a:rPr sz="1000">
                <a:solidFill>
                  <a:srgbClr val="334155"/>
                </a:solidFill>
                <a:latin typeface="Malgun Gothic"/>
              </a:rPr>
              <a:t> 기존 대비 톤당 3,000~5,000원 절감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비용 방어 :</a:t>
            </a:r>
            <a:r>
              <a:rPr sz="1000">
                <a:solidFill>
                  <a:srgbClr val="334155"/>
                </a:solidFill>
                <a:latin typeface="Malgun Gothic"/>
              </a:rPr>
              <a:t> 사료 제조원가 즉각 절감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03. 월간 총 공급액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5,400만원</a:t>
            </a:r>
            <a:r>
              <a:rPr sz="1200">
                <a:solidFill>
                  <a:srgbClr val="475569"/>
                </a:solidFill>
                <a:latin typeface="Malgun Gothic"/>
              </a:rPr>
              <a:t> / 월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공급 규모 :</a:t>
            </a:r>
            <a:r>
              <a:rPr sz="1000">
                <a:solidFill>
                  <a:srgbClr val="334155"/>
                </a:solidFill>
                <a:latin typeface="Malgun Gothic"/>
              </a:rPr>
              <a:t> 월 18,000톤 기준 총 9,000kg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월간 절감 :</a:t>
            </a:r>
            <a:r>
              <a:rPr sz="1000">
                <a:solidFill>
                  <a:srgbClr val="334155"/>
                </a:solidFill>
                <a:latin typeface="Malgun Gothic"/>
              </a:rPr>
              <a:t> 기존 대비 월 최대 1억원 절감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목장 환원 :</a:t>
            </a:r>
            <a:r>
              <a:rPr sz="1000">
                <a:solidFill>
                  <a:srgbClr val="334155"/>
                </a:solidFill>
                <a:latin typeface="Malgun Gothic"/>
              </a:rPr>
              <a:t> 연간 12억원 조합원 목장 환원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04. 균질 혼화도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CV &lt; 5%</a:t>
            </a:r>
            <a:r>
              <a:rPr sz="1200">
                <a:solidFill>
                  <a:srgbClr val="475569"/>
                </a:solidFill>
                <a:latin typeface="Malgun Gothic"/>
              </a:rPr>
              <a:t> 초정밀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공정 일치 :</a:t>
            </a:r>
            <a:r>
              <a:rPr sz="1000">
                <a:solidFill>
                  <a:srgbClr val="334155"/>
                </a:solidFill>
                <a:latin typeface="Malgun Gothic"/>
              </a:rPr>
              <a:t> Twin-Shaft 패들 믹서 최적화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내열성 보증 :</a:t>
            </a:r>
            <a:r>
              <a:rPr sz="1000">
                <a:solidFill>
                  <a:srgbClr val="334155"/>
                </a:solidFill>
                <a:latin typeface="Malgun Gothic"/>
              </a:rPr>
              <a:t> 85~110℃ 펠렛열 95% 생존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품질 보증 :</a:t>
            </a:r>
            <a:r>
              <a:rPr sz="1000">
                <a:solidFill>
                  <a:srgbClr val="334155"/>
                </a:solidFill>
                <a:latin typeface="Malgun Gothic"/>
              </a:rPr>
              <a:t> 로트별 공인 COA 무결점 보증</a:t>
            </a:r>
          </a:p>
        </p:txBody>
      </p:sp>
      <p:pic>
        <p:nvPicPr>
          <p:cNvPr id="17" name="Picture 16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50" b="1">
                <a:solidFill>
                  <a:srgbClr val="057A46"/>
                </a:solidFill>
                <a:latin typeface="Malgun Gothic"/>
              </a:defRPr>
            </a:pPr>
            <a:r>
              <a:t>★ 삼원팜텍 스마트 바이오 솔루션 : 검증된 조달청 관납 기술력으로 서울우유 조합원 목장의 산유량과 1등급 유질을 지켜냅니다!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AGENDA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제안서 목차 및 프레젠테이션 진행 순서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체계적인 6개 부문 분석 및 실행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01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I. 제안 배경 및 낙농 환경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국제 원료곡 시세 변동 추이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하절기 혹서기 열 스트레스 대응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서울우유 한일사료 라인 현황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02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II. 제안사 역량 및 공공 신뢰도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(주)삼원팜텍 기업 개요 및 시설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국가 조달청 관납 전국 총판 실적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옥천 공장 5단계 품질 검증 체계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03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III. 핵심 경제성 및 밸류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500g/ton 처방의 공학적 의의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사료 톤당 3,000원 원가 절감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월 1억원·연 12억원 절감 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88620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12394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04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IV. 8대 핵심 낙농 솔루션 스펙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기호성 향미제 &amp; 반추위 효소제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코팅 GABA &amp; 고활성 효모균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몬모릴로나이트 독소흡착 &amp; 천연제제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3128" y="388620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412394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05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V. 한일사료 임가공 공정 적합성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Twin-Shaft 패들 혼화도(CV&lt;5%)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스팀 펠렛 가공열(105℃) 내열성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안티케이킹 자유 유동성 설계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388620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65008" y="388620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412394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06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VI. 낙농 기대효과 및 실행 로드맵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착유우 산유량 방어 (+1.8kg/일)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원유 유질 개선 (체세포수 -42%)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3단계 실증 및 무중단 공급 보증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낙농업계 3중고(三重苦)와 서울우유의 당면 과제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원료곡 가격 폭등 및 고온 스트레스 속 낙농 사료 배합 원가 방어 전략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CRISIS FACTORS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낙농업계 및 목장 3대 비상 현안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국제 원료곡 시세 급등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옥수수·대두박 가격 폭등으로 사료 제조원가 압박 심화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혹서기 기후 위기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하절기 폭염 일수 증가로 젖소 건물섭취량(DMI) 급감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산유량 및 유질 저하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착유우 산유량 급감, 체세포수 급증, 유방염 질병 빈발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무항생제 축산 정책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친환경 면역 강화 및 천연 기능성 물질 도입 시급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원가·품질 동시 방어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원가는 엄격히 절감하면서 유질을 지킬 처방 필수</a:t>
            </a:r>
          </a:p>
        </p:txBody>
      </p:sp>
      <p:pic>
        <p:nvPicPr>
          <p:cNvPr id="8" name="Picture 7" descr="grain_market_volatility_1789881820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국제 사료 원료곡 가격 변동 추이 및 세계 해상 공급망 동향 대시보드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글로벌 곡물가 변동 속에서 낙농 사료 원가 절감은 선택이 아닌 필수 과제입니다!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서울우유 한일사료 임가공 배합 라인(월 18,000 M/T) 현황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대규모 임가공 생산 체계에 완벽히 부합하는 낙농 전용 첨가제 처방의 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PRODUCTION INFRA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월 18,000톤 임가공 라인 핵심 요구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대규모 생산 체계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배합사료 월 18,000 M/T (연간 216,000 M/T 대형 설비)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고속 혼합 공정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Twin-Shaft 패들 믹서 및 마이크로 인그리디언트 자동 빈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복합 가공 형태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가루사료(Mash), 펠렛(Pellet), 익스팬더 사료 동시 대응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초정밀 혼화도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500g 미량 투입 시 1톤 믹서 내 CV 5% 이내 균질 분산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고온 가공열 내열성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85~105℃ 스팀 펠렛 가공열 통과 후 유효 활성 95% 보존</a:t>
            </a:r>
          </a:p>
        </p:txBody>
      </p:sp>
      <p:pic>
        <p:nvPicPr>
          <p:cNvPr id="8" name="Picture 7" descr="feed_production_line_1789881658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한일사료 임가공 배합사료 공장 자동화 믹서 및 마이크로 도징 시스템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한일사료의 고속 믹서 공정에 100% 최적화된 마이크로 유동성 설계 적용!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기존 시중 첨가제 vs 삼원팜텍 고농축 프리믹스 비교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저순도 다량 투입의 비효율을 극복하고 고농축 소량 투입으로 패러다임 전환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548640"/>
          </a:xfrm>
          <a:prstGeom prst="roundRect">
            <a:avLst/>
          </a:prstGeom>
          <a:solidFill>
            <a:srgbClr val="F0FDF4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핵심 비교 포인트: 기존 첨가제는 부형제(밀기울)가 대부분이라 사료 영양을 깎아먹고 비용만 가중시킵니다.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304288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2926080"/>
                <a:gridCol w="3017520"/>
              </a:tblGrid>
              <a:tr h="38796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구분 항목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시중 일반 첨가제 (기존)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삼원팜텍 고농축 프리믹스 (제안)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개선 효과 및 차별화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표준 투입량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1,000g ~ 2,000g / ton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500g / ton (0.05%)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투입량 50~75% 절감, 배합공간 확보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유효 원료 순도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저순도 원료 (부형제 80~90%)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글로벌 1등급 고순도 원료 엄선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불필요한 부형제 배제, 활성 극대화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사료 배합 영향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부형제가 옥수수/대두박 공간 잠식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주영양소 공간 1kg 이상 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사료 본연의 영양 스펙 100%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톤당 첨가 비용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5,000원 ~ 8,000원 / ton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단 3,000원 / ton (6,000원/kg)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톤당 2,000원 ~ 5,000원 원가 절감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월간 공급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9,000만원 ~ 1억 4,400만원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5,400만원 (월 18,000톤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월 3,600만 ~ 9,000만원 원가 절감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797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물류 및 보관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월 18~36톤 보관 (부피 과대)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월 9.0톤 (500g 알루미늄 파우치)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창고 보관 공간 및 물류비 50% 절감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02936"/>
            <a:ext cx="868680" cy="868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737360" y="5202936"/>
            <a:ext cx="96926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100" b="1">
                <a:solidFill>
                  <a:srgbClr val="008B47"/>
                </a:solidFill>
                <a:latin typeface="Malgun Gothic"/>
              </a:defRPr>
            </a:pPr>
            <a:r>
              <a:t>★ 삼원팜텍 낙농 바이오 닥터의 분석 요약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삼원팜텍 500g 처방은 불필요한 부형제를 완전히 걷어내고 순수 유효 성분만 농축하여 사료 품질과 원가를 동시 해결합니다!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솔루션 혁신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삼원팜텍 패러다임: 초고농축 마이크로 프리믹스 혁신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사료 톤당 단 500g(0.05%) 투입으로 동일 이상의 극대화된 약리 효과 구현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500G/TON INNOVATION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사료 톤당 500g 처방의 공학적 장점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고순도 원료 농축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글로벌 1등급 고순도 원료만을 엄선하여 유효 분자 밀도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부형제 제로화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무의미한 부형제를 전면 배제하여 500g 투입만으로 충분한 약리 효과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배합 스페이스 확보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톤당 1.0kg 이상의 영양 공간 확보 (옥수수/대두박 100% 보존)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물류·보관비 절감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월간 보관 중량 18톤 -&gt; 9톤으로 50% 급감 (물류비 반감)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품질 안정성 보증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전용 500g 고차단성 알루미늄 포장으로 12개월 무변질 보증</a:t>
            </a:r>
          </a:p>
        </p:txBody>
      </p:sp>
      <p:pic>
        <p:nvPicPr>
          <p:cNvPr id="8" name="Picture 7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500g 1포가 사료 1톤에 1:1 완벽 매칭되어 현장 투입 실수를 원천 차단합니다!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협력 구조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3자 협력(삼원팜텍 - 한일사료 - 서울우유) 비즈니스 밸류체인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명확한 역할 분담과 완벽한 신뢰 기반의 협력 파트너십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주관 기관 (단독 책임)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(주)삼원팜텍 (제조·판매원)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단독 제조·공급원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모든 법적·품질·사후관리 책임 총괄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공공 품질 기준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국가 조달 관납 기준의 무결점 옥천 완제품 생산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R&amp;D 기술 지원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글로벌 최고 수준 원료 파트너십 및 학술 지원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현장 밀착 전담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한일사료 공장 직납 및 서울우유 전담 기술팀 가동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임가공 배합처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한일사료 (임가공 생산처)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정밀 임가공 전담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월 18,000톤 배합사료 라인 안정 생산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공정 일치 준수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삼원팜텍 500g 전용 공정 프로토콜 준수 (CV&lt;5%)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자동화 빈 연계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마이크로 인그리디언트 자동 투입 라인 일치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품질 상호 검증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로트별 분석 성적서(COA) 상호 대조 및 모니터링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7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수요처 / 낙농목장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서울우유 (수요처)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사료 원가 절감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월 최대 1억원 절감을 통한 조합 및 목장 수익성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최상급 사료 공급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조합원 낙농 목장에 최고 품질 프리미엄 사료 공급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낙농 생산성 극대화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착유우 산유량 방어, 1등급 유질, 체세포수 급감 달성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브랜드 신뢰 확립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서울우유 낙농 사료 브랜드의 시장 리더십 수호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II. 제안사 역량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주식회사 삼원팜텍 회사 개요 및 제조 인프라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충북 옥천 테크노밸리 본사 및 첨단 GMP/HACCP 생산 시설 보유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COMPANY OVERVIEW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(주)삼원팜텍 핵심 역량 지표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회사 개요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주식회사 삼원팜텍 (대표이사 김한호)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소재지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충청북도 옥천군 옥천읍 테크노밸리로 본사 및 제1공장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주요 사업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동물용의약품, 보조사료, 단미사료, 기능성 프리믹스 제조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공인 인증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KVGMP(동물용의약품 우수제조기준), 사료 HACCP 인증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시설 규모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마이크로 믹싱 타워, 무균 포장 라인, 정밀 분석 연구소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생산 역량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월간 300 M/T 고농축 프리믹스 자동화 대량 생산 체계</a:t>
            </a:r>
          </a:p>
        </p:txBody>
      </p:sp>
      <p:pic>
        <p:nvPicPr>
          <p:cNvPr id="8" name="Picture 7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삼원팜텍의 최첨단 자동화 설비가 월 18,000톤용 프리믹스를 한 치의 오차 없이 생산합니다.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II. 공공 신뢰도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국가 조달청 관납 전국 총판 및 공공 품질 검증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까다로운 국가 공공 조달 품질 심사를 통과한 최고의 신뢰성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01. 공공 납품 실적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조달청 관납 전국 총판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국가 조달청(나라장터) 정식 등록 공급원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전국 시·군 방역 본부 및 축협 관납 납품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공공기관 감사 무결점 통과 기업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02. 대표 관납 품목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로타갈(생물학적 제제)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송아지 설사 예방 생물학적 제제 관납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냉장 유통 및 엄격한 생균 역가 관리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전국 수의사 및 낙농 목장 신뢰 입증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03. 품질 보증 체계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철저한 사후 관리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공급 제품 로트별 전수 품질 보증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불량률 0.00% 달성 운영 체계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클레임 발생 시 24시간 내 현장 출동</a:t>
            </a:r>
          </a:p>
        </p:txBody>
      </p:sp>
      <p:pic>
        <p:nvPicPr>
          <p:cNvPr id="14" name="Picture 13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F0FDF4"/>
          </a:solidFill>
          <a:ln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00" b="1">
                <a:solidFill>
                  <a:srgbClr val="065F46"/>
                </a:solidFill>
                <a:latin typeface="Malgun Gothic"/>
              </a:defRPr>
            </a:pPr>
            <a:r>
              <a:t>★ 공공 기관이 보증하는 삼원팜텍 품질 : 조달청 관납 전국 총판의 엄격한 품질 관리 프로토콜이 적용됩니다!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II. 품질 보증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옥천 공장 품질 관리 체계 및 매 배치별 성분 분석(COA)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입고부터 출하까지 5단계 정밀 스크리닝 및 국가 공인 성적서 동봉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QUALITY CONTROL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삼원팜텍 5단계 무결점 품질 검증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1단계 원료 입고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수입 원료 통관 시 HPLC 유효 성분 순도 100% 전수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2단계 사전 검사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미생물/생균 역가(CFU/g) 및 곰팡이독소 사전 스크리닝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3단계 공정 모니터링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옥천 공장 마이크로 정밀 계량 및 배치 혼합 실시간 제어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4단계 성적서 발행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완제품 로트별 국가 공인 시험기관 성분 분석 성적서(COA) 발행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5단계 동봉 출하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매 납품 시 COA 원본 한일사료 품질팀 및 서울우유 동시 제출</a:t>
            </a:r>
          </a:p>
        </p:txBody>
      </p:sp>
      <p:pic>
        <p:nvPicPr>
          <p:cNvPr id="8" name="Picture 7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원료부터 완제품까지 5단계 전수 검사를 거친 무결점 제품만 출하됩니다.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표준 투입량 500g/ton (0.05%) 처방의 공학적 의의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생리 활성 밀도 극대화와 배합 공간 보존의 시너지 효과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500G/TON VALUE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왜 500g/ton이 가장 이상적인가?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원료 분자 농축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일반 2kg 제품과 동일한 유효 활성 분자를 500g에 완벽 응축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영양소 치환 제로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불필요한 부형제 투입 방지로 조단백/가소화에너지 손실 0%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물류비 50% 절감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월 18톤 운송 -&gt; 9톤 운송으로 운송비 및 보관비 50% 절감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현장 작업 편의성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500g 파우치 1포 = 1톤 믹서 1배치 투입으로 작업 간소화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친환경 폐기물 저감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포장재 및 부형제 폐기물 75% 이상 대폭 감축</a:t>
            </a:r>
          </a:p>
        </p:txBody>
      </p:sp>
      <p:pic>
        <p:nvPicPr>
          <p:cNvPr id="8" name="Picture 7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바이오 코팅 골든 펠렛 정밀 토출 자동화 생산 라인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500g 포장 1포가 1톤 배합기 1배치에 정확히 1:1로 대응하여 계량 오류가 없습니다.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사료 톤당 첨가 비용 3,000원과 가격 경쟁력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제품 공급 기준가 6,000원/kg 적용에 따른 압도적 경제성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COST SAVINGS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사료 톤당 첨가제 비용 비교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시중 A사 일반 처방 (1.5kg/t x 4,000원)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6,000원 투입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시중 B사 프리미엄 처방 (1.0kg/t x 8,000원)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8,000원 투입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삼원팜텍 고농축 프리믹스 (0.5kg/t x 6,000원)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단 3,000원 투입!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★ 비용 절감 성과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톤당 3,000원 ~ 5,000원 순수 제조원가 절감 효과 달성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단가 정책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한일사료 임가공 배합 라인 전용 파격적 맞춤 특화 공급가 적용</a:t>
            </a:r>
          </a:p>
        </p:txBody>
      </p:sp>
      <p:pic>
        <p:nvPicPr>
          <p:cNvPr id="8" name="Picture 7" descr="chart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사료 톤당 첨가제 투입 비용 및 월간 총비용 절감 비교 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톤당 단 3,000원으로 시중 8,000원대 프리미엄 첨가제 이상의 약리 효과를 실현합니다.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서울우유 월간 18,000톤 생산 시 거시적 경제 효과 분석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월 5,400만원 공급으로 기존 대비 월 최대 1억원, 연간 12억원 이상 절감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548640"/>
          </a:xfrm>
          <a:prstGeom prst="roundRect">
            <a:avLst/>
          </a:prstGeom>
          <a:solidFill>
            <a:srgbClr val="F0FDF4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핵심 비교 포인트: 삼원팜텍 공급 시 연간 최소 6억 4,800만원에서 최대 10억 8,000만원의 실질 예산 절감 달성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304288"/>
          <a:ext cx="1069848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  <a:gridCol w="1371600"/>
                <a:gridCol w="1737360"/>
                <a:gridCol w="1737360"/>
                <a:gridCol w="1645920"/>
              </a:tblGrid>
              <a:tr h="39090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공급 옵션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톤당 투입량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제품 kg단가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사료 톤당 비용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월간 총비용 (18,000t)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연간 환산 비용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서울우유 연간 절감액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시중 A사 처방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1.5 kg / 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4,000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1억 800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12억 9,600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기준 대비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시중 B사 처방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1.0 kg / ton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1억 4,400 만원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17억 2,800 만원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-4억 3,200 만원 손실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삼원팜텍 제안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0.5 kg / ton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3,000 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5,400 만원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6억 4,800 만원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+6억 4,800 만원 절감!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50792"/>
            <a:ext cx="868680" cy="868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737360" y="4050792"/>
            <a:ext cx="96926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100" b="1">
                <a:solidFill>
                  <a:srgbClr val="008B47"/>
                </a:solidFill>
                <a:latin typeface="Malgun Gothic"/>
              </a:defRPr>
            </a:pPr>
            <a:r>
              <a:t>★ 삼원팜텍 낙농 바이오 닥터의 분석 요약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절감된 사료 제조원가는 서울우유 조합원 목장 환원 사업 및 사료 판매 가격 경쟁력으로 직결됩니다!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핵심 솔루션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삼원팜텍 8대 복합 기능성 핵심 낙농 원료 매트릭스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기호성, 반추위효소, 항열스트레스, 효모, 생균, 독소흡착, 천연약제를 1포에 집약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  <a:latin typeface="Malgun Gothic"/>
              </a:defRPr>
            </a:pPr>
            <a:r>
              <a:t>01. DDC 복합 향미제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바닐라/밀크 향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건물섭취량(DMI) +12%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  <a:latin typeface="Malgun Gothic"/>
              </a:defRPr>
            </a:pPr>
            <a:r>
              <a:t>02. VTR 고역가 복합효소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NSP/섬유소 분해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사료 이용 효율 +8.5%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8B47"/>
                </a:solidFill>
                <a:latin typeface="Malgun Gothic"/>
              </a:defRPr>
            </a:pPr>
            <a:r>
              <a:t>03. Jienuo 코팅 GABA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루멘 바이패스 GABA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하절기 열 스트레스 -38%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855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8B47"/>
                </a:solidFill>
                <a:latin typeface="Malgun Gothic"/>
              </a:defRPr>
            </a:pPr>
            <a:r>
              <a:t>04. HZM 고활성 효모균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S. cerevisiae 활성균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반추위 VFA 생성 +18%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8B47"/>
                </a:solidFill>
                <a:latin typeface="Malgun Gothic"/>
              </a:defRPr>
            </a:pPr>
            <a:r>
              <a:t>05. HZM 3종 복합생균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유산균+고초균+낙산균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장내 유익균 총 10배 증식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06. 몬모릴로나이트 나노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규산염 나노점토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아플라톡신 98% 흡착 배출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07. VEESURE 식물구충제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사포닌/에센셜오일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장내 기생충 및 원충 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08. DNJ 천연 항바이러스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상백피 천연 알칼로이드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호흡기/유방염 바이러스 방어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01. DDC 향미제 &amp; 02. VTR 복합효소제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기호성 극대화로 젖소 건물섭취량을 유도하고 반추위 섬유소 소화율 극대화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INTAKE &amp; ENZYMES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섭취량 증대 및 소화율 혁신 메커니즘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DDC 복합 향미제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반추동물 후각을 자극하는 천연 에센셜 오일 정밀 배합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하절기 섭취 회복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폭염 시 식욕 부진 젖소 건물섭취량(DMI) 8~12% 즉각 회복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VTR 복합효소제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자일라나아제, 글루카나아제, 셀룰라아제 등 6종 복합 처방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섬유소 분해 혁신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조사료 및 농후사료 세포벽 분해로 에너지·단백질 이용률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반추위 환경 개선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아급성 과산증(SARA) 완화 및 영양소 흡수 표면적 25% 확대</a:t>
            </a:r>
          </a:p>
        </p:txBody>
      </p:sp>
      <p:pic>
        <p:nvPicPr>
          <p:cNvPr id="8" name="Picture 7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바이오 코팅 골든 펠렛 및 고역가 복합효소제 배합 공정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고온 다습기 젖소의 사료 섭취 거부를 예방하고 반추위 발효 환경을 최적화합니다.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03. Jienuo 코팅 GABA: 하절기 고온 스트레스 차단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루멘 바이패스 코팅 기술로 혈중 스트레스 호르몬 코르티솔 38% 억제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HEAT STRESS RELIEF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GABA의 항스트레스 및 산유량 방어 효과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2중 마이크로 코팅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고순도 γ-아미노낙산(GABA)을 특수 지질 매트릭스로 보호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루멘 바이패스 90%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반추위 미생물 분해를 우회하여 소장에서 100% 흡수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체온 상승 억제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하절기 열 스트레스 지수(THI) 78 이상에서 체온 0.4~0.6℃ 저하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산유량 80% 방어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폭염 기간 젖소 산유량 저하 80% 방어 및 유지율·유단백율 유지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번식 장애 예방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호흡수 안정화 및 헐떡임(Panting) 45% 감소, 번식률 정상화</a:t>
            </a:r>
          </a:p>
        </p:txBody>
      </p:sp>
      <p:pic>
        <p:nvPicPr>
          <p:cNvPr id="8" name="Picture 7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스마트 낙농 로봇 착유 및 하절기 쿨링 환기 시스템 목장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폭염 기간 중 젖소 산유량 감소를 막고 번식 간격을 정상화시킵니다.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04. HZM 고활성 효모균 &amp; 05. 3종 복합생균제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반추위 혐기 환경 안정화 및 장내 유익균총 압도적 우점 형성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MICROBIOME CARE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반추위 및 장내 마이크로바이옴 정상화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HZM 효모균(S. cerevisiae)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반추위 내 잔존 산소를 소비하여 혐기 상태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VFA 생성 18% 증가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섬유소 분해균 증식 촉진으로 휘발성지방산(VFA) +18% 증가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HZM 3종 복합 생균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유산균 + 고초균(내생포자) + 낙산균 최적 배합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장내 도달률 95%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마이크로 캡슐화로 위산·담즙산을 통과하여 소장/대장 95% 정착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병원균 부착 차단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병원성 대장균 및 살모넬라 차단, 장벽 밀착연접(Tight Junction) 강화</a:t>
            </a:r>
          </a:p>
        </p:txBody>
      </p:sp>
      <p:pic>
        <p:nvPicPr>
          <p:cNvPr id="8" name="Picture 7" descr="micro_capsule_science_17898816987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첨단 마이크로 캡슐화 다중 코팅 생체 분자 3D 구조 렌더링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장내 면역 세포를 자극하여 무항생제 사양 환경에서도 설사와 연변을 근본 예방합니다.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06. HZM 몬모릴로나이트 나노 곰팡이독소 흡착제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나노 층상 구조의 물리적 정전기 흡착으로 아플라톡신 98% 배출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MYCOTOXIN BINDER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사료 곰팡이독소 및 원유 M1 이행 완벽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나노 층상 규산염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고순도 천연 몬모릴로나이트를 나노 단위로 박리 정제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원유 M1 전이 차단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극성 아플라톡신(B1)을 포집하여 원유 내 아플라톡신 M1 전이 원천 방지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간 독성 완벽 방어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소화기관 내 흡착 후 체외로 100% 안전 배출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영양소 손실 1.2% 미만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비타민, 미네랄, 아미노산 등 필수 영양소 손실 극소화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원료곡 안전판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수입 옥수수/대두박 보관 중 곰팡이독소 위험 완벽 해소</a:t>
            </a:r>
          </a:p>
        </p:txBody>
      </p:sp>
      <p:pic>
        <p:nvPicPr>
          <p:cNvPr id="8" name="Picture 7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수의 영양 연구소 / 사료 품질 관리 크로마토그래피 정밀 분석실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원료곡 품질 편차에 상관없이 서울우유 원유의 안전성을 100% 보장합니다.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07. VEESURE 천연 식물구충제 &amp; 08. DNJ 천연 항바이러스제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무항생제 청정 낙농을 실현하는 식물성 파이토케미컬 바이오 시큐리티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07. PARASITE DEFENSE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VEESURE 천연 식물구충제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원료 성분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사포닌 및 천연 에센셜 오일 복합 파이토케미컬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작용 기전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선충, 콕시듐(Coccidia) 등 내부 기생충 생활사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실증 효과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송아지 콕시듐 설사 발생률 78% 대폭 감소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안전성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휴약 기간 및 착유 중단이 전혀 없는 100% 안전 제제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08. VIRAL SHIELD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DNJ 천연 항바이러스제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원료 성분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상백피 추출 1-Deoxynojirimycin 천연 알칼로이드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작용 기전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바이러스 당단백질 합성 효소(Glucosidase) 특이적 억제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실증 효과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로타바이러스, 코로나바이러스 등 외피 바이러스 증식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면역 증강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호흡기 및 소화기 점막 면역 글로불린(sIgA) 분비 촉진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SYNERGY VALUE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청정 낙농 시너지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항생제 대체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화학 구충제 및 합성 항생제 완전 대체 효과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비용 절감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목장 약품 구입비 및 개체 치료 투약 노동력 절감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브랜드 가치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서울우유의 친환경 청정 브랜드 가치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소비자 신뢰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소비자 선호 무항생제 청정 1등급 원유 생산 최적화</a:t>
            </a:r>
          </a:p>
        </p:txBody>
      </p:sp>
      <p:pic>
        <p:nvPicPr>
          <p:cNvPr id="14" name="Picture 13" descr="bio_livestock_mascot_17898817854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F0FDF4"/>
          </a:solidFill>
          <a:ln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00" b="1">
                <a:solidFill>
                  <a:srgbClr val="065F46"/>
                </a:solidFill>
                <a:latin typeface="Malgun Gothic"/>
              </a:defRPr>
            </a:pPr>
            <a:r>
              <a:t>★ 친환경 낙농의 종결자 : 항생제 없이도 질병과 기생충을 안전하게 제어하는 프리미엄 처방입니다!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한일사료 라인 혼화도 검증: 변이계수(CV) 3.8% 달성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사료 톤당 500g 투입 시 1톤 패들 믹서 내 CV 5% 이내 무결점 균질 분산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HOMOGENEITY CV&lt;5%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마이크로 도징 혼화도 공학 시험 결과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시험 조건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한일사료 Twin-Shaft 고속 패들 믹서 (1.0 M/T 배치 시험)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혼합 시간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90초 ~ 120초 표준 가동 조건에서 완벽 혼화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정밀 채취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믹서 상/중/하/전/후 10개 포인트 전수 시료 채취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공인 검증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변이계수(CV) 3.8% 달성 (공정 기준 CV &lt; 5.0% 완벽 충족)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공학적 원리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유효 원료 미세 분말화 및 정전기 방지 특수 담체 적용</a:t>
            </a:r>
          </a:p>
        </p:txBody>
      </p:sp>
      <p:pic>
        <p:nvPicPr>
          <p:cNvPr id="8" name="Picture 7" descr="chart_homogeneity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혼합 시간에 따른 변이계수(CV%) 감소 곡선 및 10개 포인트 분포도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한일사료의 고속 배합 공정에서 90초 만에 완벽한 균질 분산을 실현합니다.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펠렛 가공열(85~110℃) 내열성 및 생존율 95% 보증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스팀 컨디셔닝 및 다이스 압출 고열에도 유효 활성 성분 95% 이상 안정 잔존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HEAT RESISTANCE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펠렛 및 익스팬더 가공열 생존 메커니즘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가공 조건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85~95℃ 스팀 컨디셔닝 및 105℃ 다이스 압출 펠렛 공정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다중 코팅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융점 85℃ 지질 매트릭스 + 열차단 미네랄 외벽 2중 보호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효소제 생존율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90℃ 고열 통과 후 상대 잔존 역가 94.8% 유지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생균·효모 생존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펠렛 압출 통과 후 유효 생균수 95.2% 생존 확인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전 라인 호환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펠렛 사료뿐만 아니라 가루(Mash) 및 익스팬더 전 라인 호환</a:t>
            </a:r>
          </a:p>
        </p:txBody>
      </p:sp>
      <p:pic>
        <p:nvPicPr>
          <p:cNvPr id="8" name="Picture 7" descr="chart_pellet_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온도별 가공열 노출에 따른 효소 역가 및 생균 생존율 곡선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고온·고압의 펠렛 가공 공정을 완벽하게 견뎌내어 목장 급여 시점까지 활성을 보존합니다.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고결 방지(Anti-Caking) 및 자유 유동성 설계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하절기 다습 조건에서도 굳지 않고 빈(Bin) 브릿지 현상을 원천 방지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PHYSICAL STABILITY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물리적 안정성 및 보관 편의성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자유 유동성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안식각(Angle of Repose) 27.5° 달성 (우수한 자유 유동)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투입 관로 보호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마이크로 빈 투입 시 관로 막힘이나 브릿지 현상 제로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안티케이킹 처방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식품용 친환경 침강 실리카 1.5% 배합으로 수분 흡착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3중 알루미늄 포장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고차단 스탠딩 파우치로 장마철 습기 100% 완벽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상온 12개월 품질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유통기한 12개월 보증 및 로트별 유통기한 인자</a:t>
            </a:r>
          </a:p>
        </p:txBody>
      </p:sp>
      <p:pic>
        <p:nvPicPr>
          <p:cNvPr id="8" name="Picture 7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장마철 다습한 환경에서도 굳지 않아 자동 투입 라인의 작동 에러를 원천 차단합니다.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낙농(착유우) 산유량 방어 및 비유곡선 유지 실증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하절기 산유량 두당 일 +1.8kg 유지 및 착유 피크 기간 3~4주 연장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DAIRY LACTATION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낙농 착유우 급여 시험 실증 데이터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고능력 착유우 120두 하절기(THI 78~82 폭염기) 급여 시험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건물 섭취량(DMI)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대조군 대비 두당 일평균 +1.5kg 안정 유지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일일 산유량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대조군 대비 두당 일평균 +1.8kg 산유량 방어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착유 피크 지속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분만 후 비유 피크 기간 2~3주 추가 지속 확인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유성분 개선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유지율 3.85% -&gt; 4.02%, 유단백 3.15% -&gt; 3.28% 상승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경제성 가치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착유우 50두 목장 기준 월 약 240만원 순수익 증대</a:t>
            </a:r>
          </a:p>
        </p:txBody>
      </p:sp>
      <p:pic>
        <p:nvPicPr>
          <p:cNvPr id="8" name="Picture 7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스마트 낙농 로봇 착유 및 하절기 쿨링 환기 시스템 목장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하절기 폭염에도 산유량 감소를 완벽 방어하여 목장의 여름철 유대를 사수합니다.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원유 유질 개선: 체세포수(SCC) 42% 급감 및 유방염 예방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평균 체세포수 32만 -&gt; 18.5만/ml 저감으로 최고 등급 1등급 유대 획득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MILK QUALITY &amp; SCC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원유 체세포수 및 유방염 저감 실증 데이터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체세포수 30만 이상 준임상형 유방염 위험 착유우 80두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체세포수(SCC) 변화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평균 32만/ml -&gt; 18.5만/ml로 42.2% 급감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원유 등급 획득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전 두수 서울우유 1등급 원유 스펙 안정적 유지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유방염 억제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급여 기간 중 임상형 유방염 발생 65% 대폭 저감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치료비 손실 방어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항생제 투약 비용 및 폐유 손실 70% 감소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최고 유대 인센티브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체세포수 1등급 유지에 따른 리터당 최고 유대 수령</a:t>
            </a:r>
          </a:p>
        </p:txBody>
      </p:sp>
      <p:pic>
        <p:nvPicPr>
          <p:cNvPr id="8" name="Picture 7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유방염 치료비와 폐유 손실을 막고 최고 등급 유대 인센티브를 안정적으로 확보합니다.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육성우 및 송아지 육성: 설사 80% 저감 &amp; 초산일령 단축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어린 송아지 반추위 조기 발달 및 초산 도달 일령 1.5개월 단축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HEIFER &amp; CALF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송아지 및 육성우 급여 시험 실증 데이터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홀스타인 어린 송아지 및 육성우 150두 (생후 1일령~14개월령)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설사 발생률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대조군 24.5% -&gt; 급여군 4.8%로 80.4% 급감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반추위 융모 발달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효모 및 복합효소 작용으로 반추위 유두 길이 35% 증대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이유 체중 증체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생후 60일령 이유 체중 대조군 대비 평균 +4.8kg 증체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초산 일령 단축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번식 적정 체중 조기 도달로 초산 24개월 -&gt; 22.5개월 단축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육성비 절감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미경산우 사양 기간 단축으로 두당 육성비 45만원 절감</a:t>
            </a:r>
          </a:p>
        </p:txBody>
      </p:sp>
      <p:pic>
        <p:nvPicPr>
          <p:cNvPr id="8" name="Picture 7" descr="dairy_calf_nutr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깨끗한 톱밥 우사에서 로봇 포유기로 자라는 홀스타인 송아지 및 육성우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어린 송아지의 설사 폐사를 막고 튼튼한 고능력 후대 착유우로 조기 육성합니다.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서울우유 낙농 목장 투자 수익률(ROI) 종합 분석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첨가 비용 1원 투자 시 조합원 목장 실익 5.2원 회수 (ROI 1 : 5.2)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DAIRY ROI METRICS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거시적 투자 대비 가치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사료 첨가 비용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단 3,000원 투자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목장 생산성 가치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산유량 증대 및 유질 개선으로 톤당 15,600원 경제 가치 회수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투자 회수율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투자 비용 대비 5.2배의 압도적 목장 순익 창출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질병 예방 가치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유방염 및 송아지 설사 치료비 절감 연간 목장당 300~500만원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서울우유 브랜드 가치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서울우유 사료에 대한 조합원 목장 만족도 99% 달성</a:t>
            </a:r>
          </a:p>
        </p:txBody>
      </p:sp>
      <p:pic>
        <p:nvPicPr>
          <p:cNvPr id="8" name="Picture 7" descr="chart_livestock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낙농 착유우 및 육성우 생산성 가치 회수 종합 ROI 분석 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사료 공장과 낙농 목장 모두가 윈-윈(Win-Win)하는 지속 가능한 모델을 구축합니다.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실행 계획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단계별 도입 로드맵 및 3단계 실증 프로세스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리스크 제로를 위한 체계적인 파일럿 테스트 및 전 라인 확대 일정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1~2주차 (준비 단계)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Phase 1: 시험 배합 &amp; 공정 검증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프로토콜 수립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한일사료 라인 500g 투입 기준 확정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혼화도 측정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Twin-Shaft 믹서 혼화도(CV) 현장 실측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내열성 검사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펠렛 가공열 통과 후 유효 성분 잔존 검사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물성 최종 승인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배합 물성 및 안티케이킹 유동성 최종 승인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3~6주차 (실증 단계)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Phase 2: 조합원 목장 필드 실증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시범 목장 선정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서울우유 대표 낙농 목장 10개소 선정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지표 모니터링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착유우 산유량, 체세포수(SCC), 연변 추적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스트레스 분석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하절기 열 스트레스 저감 지표 비교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실증 보고서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참여 목장 만족도 설문 및 종합 보고서 발행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7주차 이후 (정규화)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Phase 3: 전 라인 표준 공급 확대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표준 처방 확정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한일사료 월 18,000톤 라인 표준 적용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정기 직납 가동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월간 9,000kg 정기 발주 및 직납 체계 가동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COA 동봉 체계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매 배치별 공인 시험 성적서(COA) 동봉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전담 기술 지원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삼원팜텍-서울우유 사후 기술 지원팀 상시 가동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신뢰 보증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공급 안정성 및 SLA(서비스 수준 협약) 보증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월 18,000톤 무중단 생산을 위한 안전 재고 18톤 상시 비축 및 전담팀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SLA &amp; BACKUP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삼원팜텍 4대 무결점 공급 약속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200% 안전 재고 비축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옥천 물류센터에 월 사용량의 200%(18 M/T) 상시 유지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24시간 직납 물류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발주 후 24시간 이내 한일사료 공장 직송 납품 시스템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서울우유 전담팀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가축 질병 및 목장 클레임 시 24시간 내 현장 출동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품질 무한 책임제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품질 결함 확인 시 해당 로트 100% 무상 교환 및 보상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낙농 R&amp;D 세미나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서울우유 지도계 및 조합원 목장 대상 사양 관리 교육</a:t>
            </a:r>
          </a:p>
        </p:txBody>
      </p:sp>
      <p:pic>
        <p:nvPicPr>
          <p:cNvPr id="8" name="Picture 7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기상 이변이나 물류 파동 시에도 한일사료의 사료 생산 라인이 멈추는 일은 결코 없습니다.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60120"/>
            <a:ext cx="5486400" cy="3931920"/>
          </a:xfrm>
          <a:prstGeom prst="rect">
            <a:avLst/>
          </a:prstGeom>
        </p:spPr>
      </p:pic>
      <p:pic>
        <p:nvPicPr>
          <p:cNvPr id="5" name="Picture 4" descr="bio_livestock_mascot_17898817854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749039"/>
            <a:ext cx="192024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91440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B47"/>
                </a:solidFill>
                <a:latin typeface="Malgun Gothic"/>
              </a:rPr>
              <a:t>CONCLUSION &amp; PARTNERSHIP</a:t>
            </a:r>
          </a:p>
          <a:p>
            <a:pPr>
              <a:spcAft>
                <a:spcPts val="1400"/>
              </a:spcAft>
            </a:pPr>
            <a:r>
              <a:rPr sz="2500" b="1">
                <a:solidFill>
                  <a:srgbClr val="0F172A"/>
                </a:solidFill>
                <a:latin typeface="Malgun Gothic"/>
              </a:rPr>
              <a:t>서울우유 사료의 새로운 도약,
(주)삼원팜텍이 최고의 품질과
경제성으로 함께하겠습니다!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표준 투입량 혁신 :</a:t>
            </a:r>
            <a:r>
              <a:rPr sz="1050">
                <a:solidFill>
                  <a:srgbClr val="334155"/>
                </a:solidFill>
                <a:latin typeface="Malgun Gothic"/>
              </a:rPr>
              <a:t> 서울우유 월 18,000톤 라인 맞춤형 500g/ton (단 3,000원) 처방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압도적 제조원가 방어 :</a:t>
            </a:r>
            <a:r>
              <a:rPr sz="1050">
                <a:solidFill>
                  <a:srgbClr val="334155"/>
                </a:solidFill>
                <a:latin typeface="Malgun Gothic"/>
              </a:rPr>
              <a:t> 월 5,400만원 공급으로 연간 12억원 제조원가 방어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실증된 낙농 생산성 :</a:t>
            </a:r>
            <a:r>
              <a:rPr sz="1050">
                <a:solidFill>
                  <a:srgbClr val="334155"/>
                </a:solidFill>
                <a:latin typeface="Malgun Gothic"/>
              </a:rPr>
              <a:t> 하절기 산유량 방어(+1.8kg) 및 체세포수 42% 급감 실증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공공 조달 최고 신뢰 :</a:t>
            </a:r>
            <a:r>
              <a:rPr sz="1050">
                <a:solidFill>
                  <a:srgbClr val="334155"/>
                </a:solidFill>
                <a:latin typeface="Malgun Gothic"/>
              </a:rPr>
              <a:t> 조달청 관납 전국 총판의 검증된 공공 신뢰도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66360"/>
            <a:ext cx="5029200" cy="914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28016"/>
          <a:lstStyle/>
          <a:p>
            <a:pPr algn="ctr">
              <a:defRPr sz="1100" b="1">
                <a:solidFill>
                  <a:srgbClr val="057A46"/>
                </a:solidFill>
                <a:latin typeface="Malgun Gothic"/>
              </a:defRPr>
            </a:pPr>
            <a:r>
              <a:t>공식 제조 및 공급원: 주식회사 삼원팜텍  |  대표이사 김한호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Malgun Gothic"/>
              </a:defRPr>
            </a:pPr>
            <a:r>
              <a:t>충북 옥천 테크노밸리 첨단 R&amp;D 제조 본사 및 공장  |  전국 조달청 관납 총판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