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_factory_panorama_17898816413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822960"/>
            <a:ext cx="5486400" cy="4206240"/>
          </a:xfrm>
          <a:prstGeom prst="rect">
            <a:avLst/>
          </a:prstGeom>
        </p:spPr>
      </p:pic>
      <p:pic>
        <p:nvPicPr>
          <p:cNvPr id="4" name="Picture 3" descr="bio_livestock_mascot_178988178548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393192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058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10B981"/>
                </a:solidFill>
                <a:latin typeface="Malgun Gothic"/>
              </a:rPr>
              <a:t>주식회사 삼원팜텍  |  SAMWON PHARMTECH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서울우유 사료 품질 혁신 및
원가 최적화를 위한
맞춤형 고농축 사료첨가제
공급 제안서</a:t>
            </a:r>
          </a:p>
          <a:p>
            <a:pPr>
              <a:spcAft>
                <a:spcPts val="2000"/>
              </a:spcAft>
            </a:pPr>
            <a:r>
              <a:rPr sz="1200">
                <a:solidFill>
                  <a:srgbClr val="94A3B8"/>
                </a:solidFill>
                <a:latin typeface="Malgun Gothic"/>
              </a:rPr>
              <a:t>한일사료 임가공 배합 라인(월 18,000 M/T) 전용
표준 첨가량 500g/ton (0.05%) 낙농 전문 처방</a:t>
            </a:r>
          </a:p>
          <a:p>
            <a:r>
              <a:rPr sz="1000" b="1">
                <a:solidFill>
                  <a:srgbClr val="10B981"/>
                </a:solidFill>
                <a:latin typeface="Malgun Gothic"/>
              </a:rPr>
              <a:t>제조 및 판매원: 주식회사 삼원팜텍 (대표이사 김한호)
충북 옥천 테크노밸리 본사  |  국가 조달청 관납 전국 총판  |  2026.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01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EXECUTIVE SUMMARY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핵심 제안 요약: 낙농 사료 원가는 낮추고 산유량과 유질은 극대화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한일사료 18,000톤 라인 맞춤형 삼원팜텍 고농축 프리믹스 핵심 4대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01. 표준 투입량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0F2043"/>
                </a:solidFill>
                <a:latin typeface="Malgun Gothic"/>
              </a:rPr>
              <a:t>500g</a:t>
            </a:r>
            <a:r>
              <a:rPr sz="1100">
                <a:solidFill>
                  <a:srgbClr val="64748B"/>
                </a:solidFill>
                <a:latin typeface="Malgun Gothic"/>
              </a:rPr>
              <a:t> / ton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시중(1~2kg) 대비 50~75% 절감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배합 공간 1kg 이상 확보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옥수수·대두박 영양 100% 보존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02. 사료 톤당 비용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0F2043"/>
                </a:solidFill>
                <a:latin typeface="Malgun Gothic"/>
              </a:rPr>
              <a:t>3,000원</a:t>
            </a:r>
            <a:r>
              <a:rPr sz="1100">
                <a:solidFill>
                  <a:srgbClr val="64748B"/>
                </a:solidFill>
                <a:latin typeface="Malgun Gothic"/>
              </a:rPr>
              <a:t> / ton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제품 기준가 6,000원/kg 적용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기존 대비 톤당 3,000~5,000원 절감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사료 제조원가 즉각 절감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03. 월간 총 공급액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0F2043"/>
                </a:solidFill>
                <a:latin typeface="Malgun Gothic"/>
              </a:rPr>
              <a:t>5,400만원</a:t>
            </a:r>
            <a:r>
              <a:rPr sz="1100">
                <a:solidFill>
                  <a:srgbClr val="64748B"/>
                </a:solidFill>
                <a:latin typeface="Malgun Gothic"/>
              </a:rPr>
              <a:t> / 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월 18,000톤 생산 기준 총 9,000kg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기존 대비 월 최대 1억원 절감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연간 12억원 조합원 목장 환원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04. 균질 혼화도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0F2043"/>
                </a:solidFill>
                <a:latin typeface="Malgun Gothic"/>
              </a:rPr>
              <a:t>CV &lt; 5%</a:t>
            </a:r>
            <a:r>
              <a:rPr sz="1100">
                <a:solidFill>
                  <a:srgbClr val="64748B"/>
                </a:solidFill>
                <a:latin typeface="Malgun Gothic"/>
              </a:rPr>
              <a:t> 초정밀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Twin-Shaft 패들 믹서 최적화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85~110℃ 펠렛열 95% 생존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로트별 공인 COA 무결점 보증</a:t>
            </a:r>
          </a:p>
        </p:txBody>
      </p:sp>
      <p:pic>
        <p:nvPicPr>
          <p:cNvPr id="12" name="Picture 11" descr="bio_livestock_mascot_1789881785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120640"/>
            <a:ext cx="1097280" cy="10972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011680" y="5120640"/>
            <a:ext cx="9418320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65F46"/>
                </a:solidFill>
                <a:latin typeface="Malgun Gothic"/>
              </a:defRPr>
            </a:pPr>
            <a:r>
              <a:t>★ 삼원팜텍 스마트 바이오 솔루션 : 검증된 조달청 관납 기술력으로 서울우유 조합원 목장의 산유량과 1등급 유질을 지켜냅니다!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AGENDA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제안서 목차 및 프레젠테이션 진행 순서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체계적인 6개 부문 분석 및 실행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SECTION 01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Part I. 제안 배경 및 낙농 환경 분석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수입 곡물가 급등, 하절기 열 스트레스, 서울우유 당면 과제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SECTION 02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Part II. 제안사 역량 및 공공 신뢰도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(주)삼원팜텍 소개, 조달청 관납 실적, 옥천 첨단 제조 인프라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SECTION 03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Part III. 핵심 경제성 및 밸류 분석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500g/ton 처방의 공학적 의의, 톤당 3,000원 원가 비교, 월 1억 절감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31089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SECTION 04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Part IV. 8대 핵심 낙농 솔루션 스펙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기호성, 루멘효소, GABA, 효모균, 생균제, 몬모릴로나이트, 천연약제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8620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069080"/>
            <a:ext cx="31089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SECTION 05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Part V. 한일사료 임가공 공정 적합성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초정밀 혼화도(CV&lt;5%), 펠렛 내열성(105℃), 고결방지(안티케이킹)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88620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69080"/>
            <a:ext cx="31089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SECTION 06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Part VI. 낙농 기대효과 및 실행 로드맵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착유우 산유량, 체세포수 저감, 육성우/송아지 육성, 3단계 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I. 제안 배경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낙농업계 3중고(三重苦)와 서울우유의 당면 과제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원료곡 가격 폭등 및 고온 스트레스 속 낙농 사료 배합 원가 방어 전략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CRISIS FACTORS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낙농업계 및 목장 3대 비상 현안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국제 옥수수·대두박 시세 급등으로 낙농 사료 제조원가 압박 심화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기후변화에 따른 하절기 폭염 일수 증가 및 젖소 건물섭취량 급감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착유우 산유량 저하, 원유 체세포수 상승, 유방염 및 대사성 질병 증가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무항생제 축산 정책 강화로 친환경 면역 물질 도입 시급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사료 원가는 철저히 사수하면서 유질을 높일 혁신 처방 필수</a:t>
            </a:r>
          </a:p>
        </p:txBody>
      </p:sp>
      <p:pic>
        <p:nvPicPr>
          <p:cNvPr id="6" name="Picture 5" descr="grain_market_volatility_1789881820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국제 사료 원료곡 가격 변동 추이 및 세계 해상 공급망 동향 대시보드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글로벌 곡물가 변동 속에서 낙농 사료 원가 절감은 선택이 아닌 필수 과제입니다!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I. 제안 배경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서울우유 한일사료 임가공 배합 라인(월 18,000 M/T) 현황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대규모 임가공 생산 체계에 완벽히 부합하는 낙농 전용 첨가제 처방의 필요성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PRODUCTION INFRA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월 18,000톤 임가공 라인 핵심 요구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생산 규모: 배합사료 월 18,000 M/T (연간 216,000 M/T 대형 설비)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공정 특성: 고속 Twin-Shaft 패들 믹서 및 마이크로 인그리디언트 자동 빈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가공 형태: 가루사료(Mash), 펠렛(Pellet), 익스팬더 사료 동시 가공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핵심 요구 1: 500g 미량 투입 시 1톤 믹서 내 CV 5% 이내 균질 혼화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핵심 요구 2: 85~105℃ 스팀 펠렛 가공열 통과 후 유효 활성 95% 생존</a:t>
            </a:r>
          </a:p>
        </p:txBody>
      </p:sp>
      <p:pic>
        <p:nvPicPr>
          <p:cNvPr id="6" name="Picture 5" descr="feed_production_line_1789881658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한일사료 임가공 배합사료 공장 자동화 믹서 및 마이크로 도징 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한일사료의 고속 믹서 공정에 100% 최적화된 마이크로 유동성 설계 적용!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I. 제안 배경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기존 시중 첨가제 vs 삼원팜텍 고농축 프리믹스 비교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저순도 다량 투입의 비효율을 극복하고 고농축 소량 투입으로 패러다임 전환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5F46"/>
                </a:solidFill>
                <a:latin typeface="Malgun Gothic"/>
              </a:defRPr>
            </a:pPr>
            <a:r>
              <a:t>★ 핵심 비교 포인트: 기존 첨가제는 부형제(밀기울)가 대부분이라 사료 영양을 깎아먹고 비용만 가중시킵니다.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67712"/>
          <a:ext cx="1069848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926080"/>
                <a:gridCol w="3017520"/>
              </a:tblGrid>
              <a:tr h="35008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 항목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시중 일반 첨가제 (기존)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삼원팜텍 고농축 프리믹스 (제안)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개선 효과 및 차별화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표준 투입량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1,000g ~ 2,000g / ton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500g / ton (0.05%)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투입량 50~75% 절감, 배합공간 확보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유효 원료 순도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저순도 원료 (부형제 80~90%)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글로벌 1등급 고순도 원료 엄선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불필요한 부형제 배제, 활성 극대화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사료 배합 영향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부형제가 옥수수/대두박 공간 잠식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주영양소 공간 1kg 이상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사료 본연의 영양 스펙 100% 보존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톤당 첨가 비용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5,000원 ~ 8,000원 / ton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단 3,000원 / ton (6,000원/kg)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톤당 2,000원 ~ 5,000원 원가 절감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5008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월간 공급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9,000만원 ~ 1억 4,400만원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5,400만원 (월 18,000톤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월 3,600만 ~ 9,000만원 원가 절감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08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물류 및 보관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월 18~36톤 보관 (부피 과대)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월 9.0톤 (500g 알루미늄 파우치)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창고 보관 공간 및 물류비 50% 절감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io_livestock_mascot_1789881785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901184"/>
            <a:ext cx="822960" cy="822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37360" y="4901184"/>
            <a:ext cx="9692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  <a:latin typeface="Malgun Gothic"/>
              </a:defRPr>
            </a:pPr>
            <a:r>
              <a:t>★ 삼원팜텍 낙농 바이오 닥터의 분석 요약</a:t>
            </a:r>
          </a:p>
          <a:p>
            <a:pPr>
              <a:defRPr sz="900">
                <a:solidFill>
                  <a:srgbClr val="0F172A"/>
                </a:solidFill>
                <a:latin typeface="Malgun Gothic"/>
              </a:defRPr>
            </a:pPr>
            <a:r>
              <a:t>삼원팜텍 500g 처방은 불필요한 부형제를 완전히 걷어내고 순수 유효 성분만 농축하여 사료 품질과 원가를 동시 해결합니다!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I. 솔루션 혁신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삼원팜텍 패러다임: 초고농축 마이크로 프리믹스 혁신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사료 톤당 단 500g(0.05%) 투입으로 동일 이상의 극대화된 약리 효과 구현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500G/TON INNOVATION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사료 톤당 500g 처방의 공학적 장점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글로벌 1등급 고순도 원료만을 엄선하여 유효 분자 밀도 극대화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무의미한 부형제를 전면 배제하여 500g 투입만으로 충분한 약리 효과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톤당 1.0kg 이상의 배합 공간 확보 -&gt; 옥수수/대두박 주영양소 100% 보존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월간 보관 중량 18톤 -&gt; 9톤으로 50% 급감 (창고 및 물류비 반감)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전용 500g 고차단성 알루미늄 포장으로 12개월 무변질 품질 보증</a:t>
            </a:r>
          </a:p>
        </p:txBody>
      </p:sp>
      <p:pic>
        <p:nvPicPr>
          <p:cNvPr id="6" name="Picture 5" descr="premix_product_packaging_17898818753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삼원팜텍 500g 전용 고차단성 알루미늄 스탠딩 파우치 패키지 디자인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500g 1포가 사료 1톤에 1:1 완벽 매칭되어 현장 투입 실수를 원천 차단합니다!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I. 협력 구조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3자 협력(삼원팜텍 - 한일사료 - 서울우유) 비즈니스 밸류체인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명확한 역할 분담과 완벽한 신뢰 기반의 협력 파트너십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주관 기관 (단독 책임)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(주)삼원팜텍 (제조·판매원)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단독 제조·공급원으로서 모든 법적·품질 책임 총괄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국가 조달 관납 기준의 무결점 완제품 생산 (옥천 공장)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글로벌 최고 수준 원료 파트너십 흡수 및 R&amp;D 지원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한일사료 공장 직납 및 서울우유 전담 기술팀 운영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임가공 배합처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한일사료 (임가공 생산처)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월 18,000톤 배합사료 정밀 임가공 생산 전담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삼원팜텍 500g 전용 공정 프로토콜 준수 (CV&lt;5%)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마이크로 인그리디언트 자동 투입 라인 연계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로트별 품질 성적서 상호 검증 및 공정 모니터링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828800"/>
            <a:ext cx="31089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수요처 / 낙농목장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서울우유 (수요처)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사료 원가 절감(월 최대 1억원)을 통한 조합 및 목장 수익성 극대화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조합원 낙농 목장에 최상급 고품질 사료 공급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낙농 젖소 생산성(산유량, 1등급 유질, 체세포수 저감) 대폭 향상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서울우유 사료 브랜드의 시장 리더십 확립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II. 제안사 역량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주식회사 삼원팜텍 회사 개요 및 제조 인프라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충북 옥천 테크노밸리 본사 및 첨단 GMP/HACCP 생산 시설 보유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COMPANY OVERVIEW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(주)삼원팜텍 핵심 역량 지표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회사명: 주식회사 삼원팜텍 (대표이사 김한호)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소재지: 충청북도 옥천군 옥천읍 테크노밸리로 본사 및 제1공장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주요 사업: 동물약품, 보조사료, 단미사료, 기능성 프리믹스 제조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인증 현황: KVGMP(동물용의약품 우수제조기준), 사료 HACCP 인증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시설 규모: 마이크로 믹싱 타워, 무균 포장 라인, 정밀 분석 연구소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생산 역량: 월간 300 M/T 고농축 프리믹스 자동화 생산 능력 보유</a:t>
            </a:r>
          </a:p>
        </p:txBody>
      </p:sp>
      <p:pic>
        <p:nvPicPr>
          <p:cNvPr id="6" name="Picture 5" descr="company_factory_panorama_17898816413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충북 옥천 삼원팜텍 본사 및 첨단 R&amp;D 제조 공장 전경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삼원팜텍의 최첨단 자동화 설비가 월 18,000톤용 프리믹스를 한 치의 오차 없이 생산합니다.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II. 공공 신뢰도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국가 조달청 관납 전국 총판 및 공공 품질 검증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까다로운 국가 공공 조달 품질 심사를 통과한 최고의 신뢰성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01. 공공 납품 실적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조달청 관납 전국 총판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국가 조달청(나라장터) 정식 등록 공급원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전국 시·군 방역 본부 및 축협 관납 납품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공공기관 감사 무결점 통과 기업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02. 대표 관납 품목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로타갈(생물학적 제제)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송아지 설사 예방 생물학적 제제 관납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냉장 유통 및 엄격한 생균 역가 관리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전국 수의사 및 낙농 목장 신뢰 입증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03. 품질 보증 체계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철저한 사후 관리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공급 제품 로트별 전수 품질 보증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불량률 0.00% 달성 운영 체계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클레임 발생 시 24시간 내 현장 출동</a:t>
            </a:r>
          </a:p>
        </p:txBody>
      </p:sp>
      <p:pic>
        <p:nvPicPr>
          <p:cNvPr id="10" name="Picture 9" descr="bio_livestock_mascot_1789881785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120640"/>
            <a:ext cx="1097280" cy="1097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011680" y="5120640"/>
            <a:ext cx="9418320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5F46"/>
                </a:solidFill>
                <a:latin typeface="Malgun Gothic"/>
              </a:defRPr>
            </a:pPr>
            <a:r>
              <a:t>★ 공공 기관이 보증하는 삼원팜텍 품질 : 조달청 관납 전국 총판의 엄격한 품질 관리 프로토콜이 적용됩니다!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II. 품질 보증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옥천 공장 품질 관리 체계 및 매 배치별 성분 분석(COA)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입고부터 출하까지 5단계 정밀 스크리닝 및 국가 공인 성적서 동봉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QUALITY CONTROL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삼원팜텍 5단계 무결점 품질 검증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1단계: 수입 원료 통관 시 HPLC 유효 성분 순도 100% 전수 검사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2단계: 미생물/생균 역가(CFU/g) 및 곰팡이독소 사전 스크리닝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3단계: 옥천 공장 마이크로 정밀 계량 및 배치 혼합 모니터링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4단계: 완제품 로트별 국가 공인 시험기관 성분 분석 성적서(COA) 발행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5단계: 매 납품 시 COA 원본 한일사료 품질팀 및 서울우유 동시 제출</a:t>
            </a:r>
          </a:p>
        </p:txBody>
      </p:sp>
      <p:pic>
        <p:nvPicPr>
          <p:cNvPr id="6" name="Picture 5" descr="livestock_nutrition_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삼원팜텍 수의 영양 연구소 / 사료 품질 관리 크로마토그래피 정밀 분석실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원료부터 완제품까지 5단계 전수 검사를 거친 무결점 제품만 출하됩니다.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III. 경제성 분석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표준 투입량 500g/ton (0.05%) 처방의 공학적 의의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생리 활성 밀도 극대화와 배합 공간 보존의 시너지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500G/TON VALUE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왜 500g/ton이 가장 이상적인가?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원료 분자 농축화: 일반 2kg 제품과 동일한 유효 활성 분자를 500g에 응축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영양소 치환 제로: 불필요한 부형제 투입 방지로 조단백/에너지 손실 0%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물류비 절감: 월 18톤 운송 -&gt; 9톤 운송으로 운송비 및 보관비 50% 절감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작업 편의성: 500g 알루미늄 파우치 1포 = 1톤 믹서 투입으로 작업 간소화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환경 부하 저감: 포장재 및 부형제 폐기물 75% 감소</a:t>
            </a:r>
          </a:p>
        </p:txBody>
      </p:sp>
      <p:pic>
        <p:nvPicPr>
          <p:cNvPr id="6" name="Picture 5" descr="feed_pellet_extr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바이오 코팅 골든 펠렛 정밀 토출 자동화 생산 라인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500g 포장 1포가 1톤 배합기 1배치에 정확히 1:1로 대응하여 계량 오류가 없습니다.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III. 경제성 분석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사료 톤당 첨가 비용 3,000원과 가격 경쟁력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제품 공급 기준가 6,000원/kg 적용에 따른 압도적 경제성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COST SAVINGS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사료 톤당 첨가제 비용 비교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시중 A사 일반 처방 (1.5kg/t x 4,000원): 톤당 6,000원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시중 B사 프리미엄 처방 (1.0kg/t x 8,000원): 톤당 8,000원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삼원팜텍 고농축 프리믹스 (0.5kg/t x 6,000원): 톤당 3,000원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★ 톤당 3,000원 ~ 5,000원 순수 원가 절감 효과 발생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한일사료 임가공 배합 라인 전용 특화 단가 정책 적용</a:t>
            </a:r>
          </a:p>
        </p:txBody>
      </p:sp>
      <p:pic>
        <p:nvPicPr>
          <p:cNvPr id="6" name="Picture 5" descr="chart_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사료 톤당 첨가제 투입 비용 및 월간 총비용 절감 비교 차트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톤당 단 3,000원으로 시중 8,000원대 프리미엄 첨가제 이상의 약리 효과를 실현합니다.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III. 경제성 분석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서울우유 월간 18,000톤 생산 시 거시적 경제 효과 분석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월 5,400만원 공급으로 기존 대비 월 최대 1억원, 연간 12억원 이상 절감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5F46"/>
                </a:solidFill>
                <a:latin typeface="Malgun Gothic"/>
              </a:defRPr>
            </a:pPr>
            <a:r>
              <a:t>★ 핵심 비교 포인트: 삼원팜텍 공급 시 연간 최소 6억 4,800만원에서 최대 10억 8,000만원의 실질 예산 절감 달성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67712"/>
          <a:ext cx="1069848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371600"/>
                <a:gridCol w="1737360"/>
                <a:gridCol w="1737360"/>
                <a:gridCol w="1645920"/>
              </a:tblGrid>
              <a:tr h="3520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공급 옵션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톤당 투입량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제품 kg단가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사료 톤당 비용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월간 총비용 (18,000t)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연간 환산 비용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서울우유 연간 절감액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시중 A사 처방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1.5 kg / 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4,000 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6,000 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1억 800 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12억 9,600 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기준 대비 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시중 B사 처방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1.0 kg / ton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8,000 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8,000 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1억 4,400 만원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17억 2,800 만원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-4억 3,200 만원 손실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삼원팜텍 제안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0.5 kg / ton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6,000 원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3,000 원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5,400 만원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6억 4,800 만원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+6억 4,800 만원 절감!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bio_livestock_mascot_1789881785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58768"/>
            <a:ext cx="822960" cy="822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737360" y="3858768"/>
            <a:ext cx="9692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  <a:latin typeface="Malgun Gothic"/>
              </a:defRPr>
            </a:pPr>
            <a:r>
              <a:t>★ 삼원팜텍 낙농 바이오 닥터의 분석 요약</a:t>
            </a:r>
          </a:p>
          <a:p>
            <a:pPr>
              <a:defRPr sz="900">
                <a:solidFill>
                  <a:srgbClr val="0F172A"/>
                </a:solidFill>
                <a:latin typeface="Malgun Gothic"/>
              </a:defRPr>
            </a:pPr>
            <a:r>
              <a:t>절감된 사료 제조원가는 서울우유 조합원 목장 환원 사업 및 사료 판매 가격 경쟁력으로 직결됩니다!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IV. 핵심 솔루션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삼원팜텍 8대 복합 기능성 핵심 낙농 원료 매트릭스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기호성, 반추위효소, 항열스트레스, 효모, 생균, 독소흡착, 천연약제를 1포에 집약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Malgun Gothic"/>
              </a:defRPr>
            </a:pPr>
            <a:r>
              <a:t>01. DDC 복합 향미제</a:t>
            </a:r>
          </a:p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주요 성분: 천연 바닐라/밀크 향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Malgun Gothic"/>
              </a:defRPr>
            </a:pPr>
            <a:r>
              <a:t>★ 효과: 건물섭취량(DMI) +12%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Malgun Gothic"/>
              </a:defRPr>
            </a:pPr>
            <a:r>
              <a:t>02. VTR 고역가 복합효소</a:t>
            </a:r>
          </a:p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주요 성분: NSP/섬유소 분해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Malgun Gothic"/>
              </a:defRPr>
            </a:pPr>
            <a:r>
              <a:t>★ 효과: 사료 이용 효율 +8.5%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03. Jienuo 코팅 GABA</a:t>
            </a:r>
          </a:p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주요 성분: 루멘 바이패스 GABA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Malgun Gothic"/>
              </a:defRPr>
            </a:pPr>
            <a:r>
              <a:t>★ 효과: 하절기 열 스트레스 -38%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04. HZM 고활성 효모균</a:t>
            </a:r>
          </a:p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주요 성분: S. cerevisiae 활성균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Malgun Gothic"/>
              </a:defRPr>
            </a:pPr>
            <a:r>
              <a:t>★ 효과: 반추위 VFA 생성 +18%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25603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05. HZM 3종 복합생균</a:t>
            </a:r>
          </a:p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주요 성분: 유산균+고초균+낙산균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Malgun Gothic"/>
              </a:defRPr>
            </a:pPr>
            <a:r>
              <a:t>★ 효과: 장내 유익균 총 10배 증식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886200"/>
            <a:ext cx="25603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2043"/>
                </a:solidFill>
                <a:latin typeface="Malgun Gothic"/>
              </a:defRPr>
            </a:pPr>
            <a:r>
              <a:t>06. 몬모릴로나이트 나노</a:t>
            </a:r>
          </a:p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주요 성분: 천연 규산염 나노점토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Malgun Gothic"/>
              </a:defRPr>
            </a:pPr>
            <a:r>
              <a:t>★ 효과: 아플라톡신 98% 흡착 배출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86200"/>
            <a:ext cx="25603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023360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2043"/>
                </a:solidFill>
                <a:latin typeface="Malgun Gothic"/>
              </a:defRPr>
            </a:pPr>
            <a:r>
              <a:t>07. VEESURE 식물구충제</a:t>
            </a:r>
          </a:p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주요 성분: 천연 사포닌/에센셜오일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Malgun Gothic"/>
              </a:defRPr>
            </a:pPr>
            <a:r>
              <a:t>★ 효과: 장내 기생충 및 원충 억제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886200"/>
            <a:ext cx="25603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4023360"/>
            <a:ext cx="22860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2043"/>
                </a:solidFill>
                <a:latin typeface="Malgun Gothic"/>
              </a:defRPr>
            </a:pPr>
            <a:r>
              <a:t>08. DNJ 천연 항바이러스</a:t>
            </a:r>
          </a:p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주요 성분: 상백피 천연 알칼로이드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Malgun Gothic"/>
              </a:defRPr>
            </a:pPr>
            <a:r>
              <a:t>★ 효과: 호흡기/유방염 바이러스 방어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IV. 솔루션 상세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01. DDC 향미제 &amp; 02. VTR 복합효소제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기호성 극대화로 젖소 건물섭취량을 유도하고 반추위 섬유소 소화율 극대화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INTAKE &amp; ENZYMES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섭취량 증대 및 소화율 혁신 메커니즘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DDC 복합 향미제: 반추동물 후각을 자극하는 천연 에센셜 오일 배합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하절기 폭염 시 식욕 부진 젖소 건물섭취량(DMI) 8~12% 즉각 회복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VTR 복합효소제: 자일라나아제, 글루카나아제, 셀룰라아제 등 6종 복합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조사료 및 농후사료의 세포벽을 분해하여 에너지 및 단백질 이용률 극대화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반추위 과산증(SARA) 완화 및 영양소 흡수 면적 25% 확대</a:t>
            </a:r>
          </a:p>
        </p:txBody>
      </p:sp>
      <p:pic>
        <p:nvPicPr>
          <p:cNvPr id="6" name="Picture 5" descr="feed_pellet_extr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바이오 코팅 골든 펠렛 및 고역가 복합효소제 배합 공정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고온 다습기 젖소의 사료 섭취 거부를 예방하고 반추위 발효 환경을 최적화합니다.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IV. 솔루션 상세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03. Jienuo 코팅 GABA: 하절기 고온 스트레스 차단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루멘 바이패스 코팅 기술로 혈중 스트레스 호르몬 코르티솔 38% 억제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HEAT STRESS RELIEF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GABA의 항스트레스 및 산유량 방어 효과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고순도 γ-아미노낙산(GABA)을 특수 지질 매트릭스로 2중 마이크로 코팅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반추위 미생물 분해를 우회(Rumen-bypass 90%)하여 소장에서 흡수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하절기 열 스트레스 지수(THI) 78 이상 환경에서 체온 0.4~0.6℃ 저하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젖소 산유량 저하 80% 방어 및 유지율·유단백율 유지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호흡수 안정화 및 헐떡임(Panting) 행동 45% 감소, 번식률 정상화</a:t>
            </a:r>
          </a:p>
        </p:txBody>
      </p:sp>
      <p:pic>
        <p:nvPicPr>
          <p:cNvPr id="6" name="Picture 5" descr="dairy_cows_smart_farm_17898818417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스마트 낙농 로봇 착유 및 하절기 쿨링 환기 시스템 목장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폭염 기간 중 젖소 산유량 감소를 막고 번식 간격을 정상화시킵니다.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IV. 솔루션 상세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04. HZM 고활성 효모균 &amp; 05. 3종 복합생균제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반추위 혐기 환경 안정화 및 장내 유익균총 압도적 우점 형성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MICROBIOME CARE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반추위 및 장내 마이크로바이옴 정상화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HZM 효모균(S. cerevisiae): 반추위 내 잔존 산소를 소비하여 혐기 상태 극대화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섬유소 분해균(Fibrobacter) 증식 촉진 -&gt; 휘발성지방산(VFA) +18% 증가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HZM 3종 생균제: 유산균(L. acidophilus) + 고초균(B. subtilis) + 낙산균(C. butyricum)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마이크로 캡슐화로 위산 및 담즙산 통과 후 소장/대장 정착률 95%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병원성 대장균 및 살모넬라 장내 부착 차단, 장벽 밀착연접(Tight Junction) 강화</a:t>
            </a:r>
          </a:p>
        </p:txBody>
      </p:sp>
      <p:pic>
        <p:nvPicPr>
          <p:cNvPr id="6" name="Picture 5" descr="micro_capsule_science_17898816987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첨단 마이크로 캡슐화 다중 코팅 생체 분자 3D 구조 렌더링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장내 면역 세포를 자극하여 무항생제 사양 환경에서도 설사와 연변을 근본 예방합니다.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IV. 솔루션 상세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06. HZM 몬모릴로나이트 나노 곰팡이독소 흡착제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나노 층상 구조의 물리적 정전기 흡착으로 아플라톡신 98% 배출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MYCOTOXIN BINDER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사료 곰팡이독소 및 원유 M1 이행 완벽 차단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고순도 천연 몬모릴로나이트를 나노 단위로 박리 정제한 층상 규산염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극성 아플라톡신(B1)을 포집하여 원유 내 아플라톡신 M1 이행 원천 방지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소화기관 내 흡착 후 분변으로 100% 안전 배출 (간 독성 방어)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비타민, 미네랄, 아미노산 등 영양소 흡착 손실률 1.2% 미만 극소화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수입 옥수수/대두박의 보관 중 곰팡이독소 위험에 대한 완벽한 안전판</a:t>
            </a:r>
          </a:p>
        </p:txBody>
      </p:sp>
      <p:pic>
        <p:nvPicPr>
          <p:cNvPr id="6" name="Picture 5" descr="livestock_nutrition_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수의 영양 연구소 / 사료 품질 관리 크로마토그래피 정밀 분석실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원료곡 품질 편차에 상관없이 서울우유 원유의 안전성을 100% 보장합니다.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IV. 솔루션 상세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07. VEESURE 천연 식물구충제 &amp; 08. DNJ 천연 항바이러스제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무항생제 청정 낙농을 실현하는 식물성 파이토케미컬 바이오 시큐리티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07. PARASITE DEFENSE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VEESURE 천연 식물구충제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사포닌 및 천연 에센셜 오일 복합 파이토케미컬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선충, 콕시듐(Coccidia) 등 내부 기생충 억제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송아지 콕시듐 설사 발생률 78% 감소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휴약 기간 및 착유 중단이 전혀 없는 100% 안전 제제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08. VIRAL SHIELD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DNJ 천연 항바이러스제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상백피 추출 1-Deoxynojirimycin 천연 알칼로이드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바이러스 엔벨로프 당단백질 합성 효소(Glucosidase) 억제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로타바이러스, 코로나바이러스 등 외피 바이러스 증식 차단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호흡기 및 소화기 점막 면역 글로불린(sIgA) 분비 촉진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SYNERGY VALUE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청정 낙농 시너지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화학 구충제 및 항생제 대체 효과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목장 약품 구입비 및 투약 노동력 절감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서울우유의 친환경 청정 브랜드 가치 극대화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소비자 선호 무항생제 청정 우유 생산 최적화</a:t>
            </a:r>
          </a:p>
        </p:txBody>
      </p:sp>
      <p:pic>
        <p:nvPicPr>
          <p:cNvPr id="10" name="Picture 9" descr="bio_livestock_mascot_1789881785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120640"/>
            <a:ext cx="1097280" cy="1097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011680" y="5120640"/>
            <a:ext cx="9418320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5F46"/>
                </a:solidFill>
                <a:latin typeface="Malgun Gothic"/>
              </a:defRPr>
            </a:pPr>
            <a:r>
              <a:t>★ 친환경 낙농의 종결자 : 항생제 없이도 질병과 기생충을 안전하게 제어하는 프리미엄 처방입니다!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V. 공정 적합성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한일사료 라인 혼화도 검증: 변이계수(CV) 3.8% 달성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사료 톤당 500g 투입 시 1톤 패들 믹서 내 CV 5% 이내 무결점 균질 분산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HOMOGENEITY CV&lt;5%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마이크로 도징 혼화도 공학 시험 결과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시험 조건: 한일사료 Twin-Shaft 고속 패들 믹서 (1.0 M/T 배치)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혼합 시간: 90초 ~ 120초 표준 가동 조건 시험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샘플링: 믹서 상/중/하/전/후 10개 포인트 정밀 채취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시험 결과: 변이계수(CV) 3.8% 달성 (공정 기준 CV &lt; 5.0% 완벽 충족)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공학적 원리: 유효 원료의 미세 분말화 및 정전기 방지 담체 코팅</a:t>
            </a:r>
          </a:p>
        </p:txBody>
      </p:sp>
      <p:pic>
        <p:nvPicPr>
          <p:cNvPr id="6" name="Picture 5" descr="chart_homogeneity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혼합 시간에 따른 변이계수(CV%) 감소 곡선 및 10개 포인트 분포도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한일사료의 고속 배합 공정에서 90초 만에 완벽한 균질 분산을 실현합니다.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V. 공정 적합성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펠렛 가공열(85~110℃) 내열성 및 생존율 95% 보증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스팀 컨디셔닝 및 다이스 압출 고열에도 유효 활성 성분 95% 이상 안정 잔존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HEAT RESISTANCE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펠렛 및 익스팬더 가공열 생존 메커니즘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가공 조건: 85~95℃ 스팀 컨디셔닝 및 105℃ 다이스 압출 펠렛 공정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코팅 기술: 융점 85℃ 지질 매트릭스 + 열차단 미네랄 외벽 2중 보호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효소제 생존율: 90℃ 통과 후 상대 잔존 역가 94.8% 유지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생균/효모 생존율: 펠렛 압출 통과 후 생균수 95.2% 생존 확인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펠렛 사료뿐만 아니라 가루(Mash) 및 익스팬더 사료 전 라인 호환</a:t>
            </a:r>
          </a:p>
        </p:txBody>
      </p:sp>
      <p:pic>
        <p:nvPicPr>
          <p:cNvPr id="6" name="Picture 5" descr="chart_pellet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온도별 가공열 노출에 따른 효소 역가 및 생균 생존율 곡선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고온·고압의 펠렛 가공 공정을 완벽하게 견뎌내어 목장 급여 시점까지 활성을 보존합니다.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V. 공정 적합성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고결 방지(Anti-Caking) 및 자유 유동성 설계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하절기 다습 조건에서도 굳지 않고 빈(Bin) 브릿지 현상을 원천 방지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PHYSICAL STABILITY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물리적 안정성 및 보관 편의성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자유 유동성: 안식각(Angle of Repose) 27.5° 달성 (우수한 자유 유동)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마이크로 빈 투입 시 관로 막힘이나 브릿지(Bridging) 현상 제로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안티케이킹 처방: 식품용 친환경 침강 실리카 1.5% 배합으로 수분 흡착 차단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고차단 알루미늄 포장: 3중 라미네이팅 스탠딩 파우치로 습기 100% 차단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유통기한: 상온 12개월 품질 보증 (로트별 유통기한 명확 인자)</a:t>
            </a:r>
          </a:p>
        </p:txBody>
      </p:sp>
      <p:pic>
        <p:nvPicPr>
          <p:cNvPr id="6" name="Picture 5" descr="premix_product_packaging_17898818753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삼원팜텍 500g 전용 고차단성 알루미늄 스탠딩 파우치 패키지 디자인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장마철 다습한 환경에서도 굳지 않아 자동 투입 라인의 작동 에러를 원천 차단합니다.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VI. 기대효과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낙농(착유우) 산유량 방어 및 비유곡선 유지 실증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하절기 산유량 두당 일 +1.8kg 유지 및 착유 피크 기간 3~4주 연장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DAIRY LACTATION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낙농 착유우 급여 시험 실증 데이터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시험 대상: 고능력 착유우 120두 하절기(THI 78~82 폭염기) 급여 시험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건물 섭취량(DMI): 대조군 대비 두당 일평균 +1.5kg 안정 유지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일일 산유량: 대조군 대비 두당 일평균 +1.8kg 산유량 방어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착유 피크 지속: 분만 후 비유 피크 기간 2~3주 추가 지속 확인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유성분 개선: 유지율 3.85% -&gt; 4.02%, 유단백 3.15% -&gt; 3.28% 상승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경제성: 착유우 50두 목장 기준 월 약 240만원 순수익 증대</a:t>
            </a:r>
          </a:p>
        </p:txBody>
      </p:sp>
      <p:pic>
        <p:nvPicPr>
          <p:cNvPr id="6" name="Picture 5" descr="dairy_cows_smart_farm_17898818417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스마트 낙농 로봇 착유 및 하절기 쿨링 환기 시스템 목장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하절기 폭염에도 산유량 감소를 완벽 방어하여 목장의 여름철 유대를 사수합니다.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VI. 기대효과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원유 유질 개선: 체세포수(SCC) 42% 급감 및 유방염 예방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평균 체세포수 32만 -&gt; 18.5만/ml 저감으로 최고 등급 1등급 유대 획득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MILK QUALITY &amp; SCC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원유 체세포수 및 유방염 저감 실증 데이터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시험 대상: 체세포수 30만 이상 준임상형 유방염 위험 착유우 80두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체세포수(SCC) 변화: 평균 32만/ml -&gt; 18.5만/ml로 42.2% 급감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원유 등급: 전 두수 서울우유 1등급 원유 스펙 안정적 유지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유방염 발생률: 급여 기간 중 임상형 유방염 발생 65% 대폭 억제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치료비 절감: 항생제 투약 비용 및 폐유(Discarded Milk) 손실 70% 감소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유대 인센티브: 체세포수 1등급 유지에 따른 리터당 최고 유대 수령</a:t>
            </a:r>
          </a:p>
        </p:txBody>
      </p:sp>
      <p:pic>
        <p:nvPicPr>
          <p:cNvPr id="6" name="Picture 5" descr="livestock_nutrition_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삼원팜텍 수의 영양 연구소 / 사료 품질 관리 크로마토그래피 정밀 분석실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유방염 치료비와 폐유 손실을 막고 최고 등급 유대 인센티브를 안정적으로 확보합니다.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VI. 기대효과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육성우 및 송아지 육성: 설사 80% 저감 &amp; 초산일령 단축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어린 송아지 반추위 조기 발달 및 초산 도달 일령 1.5개월 단축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HEIFER &amp; CALF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송아지 및 육성우 급여 시험 실증 데이터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시험 대상: 홀스타인 어린 송아지 및 육성우 150두 (생후 1일령~14개월령)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송아지 설사 발생률: 대조군 24.5% -&gt; 급여군 4.8%로 80.4% 급감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반추위 융모 발달: 효모 및 복합효소 작용으로 반추위 유두 길이 35% 증대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이유 체중: 생후 60일령 이유 체중 대조군 대비 평균 +4.8kg 증체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초산 일령 단축: 번식 적정 체중(380kg) 조기 도달로 초산 24개월 -&gt; 22.5개월 단축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육성 비용 절감: 미경산우 사양 기간 단축으로 두당 육성비 45만원 절감</a:t>
            </a:r>
          </a:p>
        </p:txBody>
      </p:sp>
      <p:pic>
        <p:nvPicPr>
          <p:cNvPr id="6" name="Picture 5" descr="dairy_calf_nutri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깨끗한 톱밥 우사에서 로봇 포유기로 자라는 홀스타인 송아지 및 육성우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어린 송아지의 설사 폐사를 막고 튼튼한 고능력 후대 착유우로 조기 육성합니다.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VI. 기대효과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서울우유 낙농 목장 투자 수익률(ROI) 종합 분석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첨가 비용 1원 투자 시 조합원 목장 실익 5.2원 회수 (ROI 1 : 5.2)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DAIRY ROI METRICS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거시적 투자 대비 가치 분석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사료 첨가 비용: 사료 톤당 단 3,000원 투자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목장 생산성 가치: 산유량 증대 및 유질 개선으로 톤당 15,600원 경제 가치 회수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투자 회수율: 투자 비용 대비 5.2배의 압도적 목장 순익 창출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질병 예방 가치: 유방염 및 송아지 설사 치료비 절감 연간 목장당 300~500만원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서울우유 브랜드 가치: 서울우유 사료에 대한 조합원 목장 만족도 99% 달성</a:t>
            </a:r>
          </a:p>
        </p:txBody>
      </p:sp>
      <p:pic>
        <p:nvPicPr>
          <p:cNvPr id="6" name="Picture 5" descr="chart_livestock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낙농 착유우 및 육성우 생산성 가치 회수 종합 ROI 분석 차트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사료 공장과 낙농 목장 모두가 윈-윈(Win-Win)하는 지속 가능한 모델을 구축합니다.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VI. 실행 계획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단계별 도입 로드맵 및 3단계 실증 프로세스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리스크 제로를 위한 체계적인 파일럿 테스트 및 전 라인 확대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1~2주차 (준비 단계)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Phase 1: 시험 배합 &amp; 공정 검증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한일사료 라인 500g 투입 프로토콜 설정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Twin-Shaft 믹서 혼화도(CV) 현장 측정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펠렛 가공열 통과 후 유효 성분 잔존 검사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배합 물성 및 안티케이킹 유동성 최종 승인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1089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3~6주차 (실증 단계)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Phase 2: 조합원 목장 필드 실증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서울우유 대표 낙농 목장 10개소 선정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착유우 산유량, 체세포수(SCC), 연변 모니터링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하절기 열 스트레스 저감 지표 비교 분석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참여 목장 만족도 설문 및 실증 보고서 발행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31089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7주차 이후 (정규화)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Phase 3: 전 라인 표준 공급 확대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한일사료 월 18,000톤 라인 표준 처방 확정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월간 9,000kg 정기 발주 및 직납 체계 가동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매 배치별 공인 시험 성적서(COA) 동봉 체계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삼원팜텍-서울우유 사후 기술 지원팀 상시 가동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59669"/>
                </a:solidFill>
                <a:latin typeface="Malgun Gothic"/>
              </a:defRPr>
            </a:pPr>
            <a:r>
              <a:t>[ PART VI. 신뢰 보증 ]</a:t>
            </a:r>
          </a:p>
          <a:p>
            <a:pPr>
              <a:defRPr sz="2100" b="1">
                <a:solidFill>
                  <a:srgbClr val="0F2043"/>
                </a:solidFill>
                <a:latin typeface="Malgun Gothic"/>
              </a:defRPr>
            </a:pPr>
            <a:r>
              <a:t>공급 안정성 및 SLA(서비스 수준 협약) 보증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algun Gothic"/>
              </a:defRPr>
            </a:pPr>
            <a:r>
              <a:t>월 18,000톤 무중단 생산을 위한 안전 재고 18톤 상시 비축 및 전담팀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059669"/>
                </a:solidFill>
                <a:latin typeface="Malgun Gothic"/>
              </a:rPr>
              <a:t>SLA &amp; BACKUP
</a:t>
            </a:r>
            <a:r>
              <a:rPr sz="1200" b="1">
                <a:solidFill>
                  <a:srgbClr val="0F2043"/>
                </a:solidFill>
                <a:latin typeface="Malgun Gothic"/>
              </a:rPr>
              <a:t>삼원팜텍 4대 무결점 공급 약속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200% 안전 재고 비축: 옥천 물류센터에 월 사용량의 200%(18 M/T) 상시 유지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직납 물류 체계: 발주 후 24시간 이내 한일사료 공장 직송 납품 시스템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서울우유 전담 기술팀: 가축 질병 및 목장 클레임 시 24시간 내 현장 출동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품질 무한 책임제: 품질 결함 확인 시 해당 로트 100% 무상 교환 및 보상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낙농 R&amp;D 세미나: 서울우유 지도계 및 조합원 목장 대상 사양 관리 교육</a:t>
            </a:r>
          </a:p>
        </p:txBody>
      </p:sp>
      <p:pic>
        <p:nvPicPr>
          <p:cNvPr id="6" name="Picture 5" descr="company_factory_panorama_17898816413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449823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▲ 충북 옥천 삼원팜텍 본사 및 첨단 R&amp;D 제조 공장 전경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742431"/>
            <a:ext cx="52120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5F46"/>
                </a:solidFill>
                <a:latin typeface="Malgun Gothic"/>
              </a:defRPr>
            </a:pPr>
            <a:r>
              <a:t>★ 기상 이변이나 물류 파동 시에도 한일사료의 사료 생산 라인이 멈추는 일은 결코 없습니다.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_factory_panorama_17898816413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822960"/>
            <a:ext cx="5486400" cy="4206240"/>
          </a:xfrm>
          <a:prstGeom prst="rect">
            <a:avLst/>
          </a:prstGeom>
        </p:spPr>
      </p:pic>
      <p:pic>
        <p:nvPicPr>
          <p:cNvPr id="4" name="Picture 3" descr="bio_livestock_mascot_178988178548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393192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0584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10B981"/>
                </a:solidFill>
                <a:latin typeface="Malgun Gothic"/>
              </a:rPr>
              <a:t>CONCLUSION &amp; PARTNERSHIP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FFFFFF"/>
                </a:solidFill>
                <a:latin typeface="Malgun Gothic"/>
              </a:rPr>
              <a:t>서울우유 사료의 새로운 도약,
(주)삼원팜텍이 최고의 품질과
경제성으로 함께하겠습니다!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CBD5E1"/>
                </a:solidFill>
                <a:latin typeface="Malgun Gothic"/>
              </a:rPr>
              <a:t>• 서울우유 월 18,000톤 라인 맞춤형 500g/ton (단 3,000원) 처방
• 월 5,400만원 공급으로 연간 12억원 제조원가 방어
• 하절기 산유량 방어(+1.8kg) 및 체세포수 42% 급감 실증
• 조달청 관납 전국 총판의 검증된 공공 신뢰도</a:t>
            </a:r>
          </a:p>
          <a:p>
            <a:r>
              <a:rPr sz="1000" b="1">
                <a:solidFill>
                  <a:srgbClr val="10B981"/>
                </a:solidFill>
                <a:latin typeface="Malgun Gothic"/>
              </a:rPr>
              <a:t>공식 제조 및 공급원: 주식회사 삼원팜텍
대표이사 김한호 (직인생략)
본사: 충북 옥천군 옥천읍 테크노밸리로 88
전국 총판 및 고객상담: 043-731-8800  |  support@samwonpharm.co.kr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A0AEC0"/>
                </a:solidFill>
                <a:latin typeface="Malgun Gothic"/>
              </a:defRPr>
            </a:pPr>
            <a:r>
              <a:t>(주)삼원팜텍  |  서울우유 한일사료 임가공 배합 라인 맞춤형 고농축 사료첨가제 제안                                                              Slide 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